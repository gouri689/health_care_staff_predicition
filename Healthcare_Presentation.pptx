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2342"/>
                </a:solidFill>
                <a:latin typeface="Arial"/>
              </a:rPr>
              <a:t>Staff Availability by Department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Staff by Department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bubble3D val="0"/>
            <c:spPr>
              <a:solidFill>
                <a:srgbClr val="0A2342"/>
              </a:solidFill>
              <a:effectLst/>
            </c:spPr>
          </c:dPt>
          <c:dPt>
            <c:idx val="3"/>
            <c:bubble3D val="0"/>
            <c:spPr>
              <a:solidFill>
                <a:srgbClr val="F4A261"/>
              </a:solidFill>
              <a:effectLst/>
            </c:spPr>
          </c:dPt>
          <c:dPt>
            <c:idx val="4"/>
            <c:bubble3D val="0"/>
            <c:spPr>
              <a:solidFill>
                <a:srgbClr val="E76F5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Gynecology</c:v>
                </c:pt>
                <c:pt idx="1">
                  <c:v>Radiotherapy</c:v>
                </c:pt>
                <c:pt idx="2">
                  <c:v>Anesthesia</c:v>
                </c:pt>
                <c:pt idx="3">
                  <c:v>TB &amp; Chest</c:v>
                </c:pt>
                <c:pt idx="4">
                  <c:v>Surgery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343478</c:v>
                </c:pt>
                <c:pt idx="1">
                  <c:v>84315</c:v>
                </c:pt>
                <c:pt idx="2">
                  <c:v>44179</c:v>
                </c:pt>
                <c:pt idx="3">
                  <c:v>22890</c:v>
                </c:pt>
                <c:pt idx="4">
                  <c:v>5138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2342"/>
                </a:solidFill>
                <a:latin typeface="Arial"/>
              </a:rPr>
              <a:t>Patient Count by Severity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Severity of Illness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Moderate</c:v>
                  </c:pt>
                  <c:pt idx="1">
                    <c:v>Minor</c:v>
                  </c:pt>
                  <c:pt idx="2">
                    <c:v>Extreme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280197</c:v>
                </c:pt>
                <c:pt idx="1">
                  <c:v>131537</c:v>
                </c:pt>
                <c:pt idx="2">
                  <c:v>88266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FFFFFF"/>
                </a:solidFill>
                <a:latin typeface="Arial"/>
              </a:rPr>
              <a:t>Train vs Test R² — Minimal Overfitting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R²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R² Score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0.8889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R² Score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0.8882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AD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85"/>
        </c:scaling>
        <c:delete val="0"/>
        <c:axPos val="l"/>
        <c:majorGridlines>
          <c:spPr>
            <a:ln w="6350" cap="flat">
              <a:solidFill>
                <a:srgbClr val="1A3D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AD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0A2C4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FFFFFF"/>
                </a:solidFill>
                <a:latin typeface="Arial"/>
              </a:rPr>
              <a:t>Error Metric Summary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Metrics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MAE (Test)</c:v>
                  </c:pt>
                  <c:pt idx="1">
                    <c:v>RMSE (Test)</c:v>
                  </c:pt>
                  <c:pt idx="2">
                    <c:v>Training R²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0.636</c:v>
                </c:pt>
                <c:pt idx="1">
                  <c:v>1.057</c:v>
                </c:pt>
                <c:pt idx="2">
                  <c:v>0.889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AD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D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AD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2C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Hospital Staff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Using Machine Learning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286000" y="2423160"/>
            <a:ext cx="4572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14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Project — Viva Presentation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46120" y="3017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Valusa Gouri Shanker  |  USN: 241DD01313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4015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34015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B. Jyotsna Devi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7856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378561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Vignan's Foundation for Science, Technology &amp; Research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41696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416966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OF DISTANCE AND ONLINE EDUCATION — VADLAMUDI, GUNTUR – 522213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029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9844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6184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hospital staffing prediction matters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67128"/>
            <a:ext cx="5029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6712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23113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5511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 healthcare records · 15 features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099816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99816"/>
            <a:ext cx="5029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99816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16382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48386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insights &amp; data patterns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032504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32504"/>
            <a:ext cx="5029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3250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0965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4165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outlier handling, encoding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234440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234440"/>
            <a:ext cx="5029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2344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129844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Training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16184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 architecture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2167128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167128"/>
            <a:ext cx="5029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16712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223113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25511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0.888 · MAE = 0.636 · RMSE = 1.057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099816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099816"/>
            <a:ext cx="5029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099816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03520" y="316382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03520" y="348386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findings from the data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4032504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4032504"/>
            <a:ext cx="5029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403250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03520" y="40965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03520" y="44165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scope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healthcare faces a critical challenge: 1.2M+ doctor &amp; 2M+ nurse shortages (post-COVID)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departments struggle with unpredictable staffing, leading to delays, errors &amp; poor patient outcomes.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103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Staffing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3090672"/>
            <a:ext cx="2478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staff requirements (0–10 scale) before shortages occur to reduce patient wait times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205740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18688" y="2103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10128" y="26334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Insights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8416" y="3090672"/>
            <a:ext cx="2478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department-specific staffing patterns across gynecology, radiotherapy, anesthesia &amp; more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71616" y="205740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71616" y="2103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63056" y="26334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Optimization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81344" y="3090672"/>
            <a:ext cx="2478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administrators allocate hospital resources more efficiently using ML-driven insights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8412480" cy="777240"/>
          </a:xfrm>
          <a:prstGeom prst="rect">
            <a:avLst/>
          </a:prstGeom>
          <a:solidFill>
            <a:srgbClr val="E8F8F5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0965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4096512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staffing inefficiencies by 15–20%  ·  Improve patient satisfaction  ·  Scalable model for Indian healthcare systems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960120"/>
          </a:xfrm>
          <a:prstGeom prst="rect">
            <a:avLst/>
          </a:prstGeom>
          <a:solidFill>
            <a:srgbClr val="0A2342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1615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87168" y="1188720"/>
            <a:ext cx="1920240" cy="960120"/>
          </a:xfrm>
          <a:prstGeom prst="rect">
            <a:avLst/>
          </a:prstGeom>
          <a:solidFill>
            <a:srgbClr val="0A2342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87168" y="121615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32888" y="1737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08576" y="1188720"/>
            <a:ext cx="1920240" cy="960120"/>
          </a:xfrm>
          <a:prstGeom prst="rect">
            <a:avLst/>
          </a:prstGeom>
          <a:solidFill>
            <a:srgbClr val="0A2342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08576" y="121615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54296" y="1737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health_conditions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9984" y="1188720"/>
            <a:ext cx="1920240" cy="960120"/>
          </a:xfrm>
          <a:prstGeom prst="rect">
            <a:avLst/>
          </a:prstGeom>
          <a:solidFill>
            <a:srgbClr val="0A2342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9984" y="121615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75704" y="1737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86000"/>
          <a:ext cx="8412480" cy="260604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  <a:gridCol w="4297680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Extra Rooms in Hospital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 — outliers handled via IQR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depts: gynecology (68.7%), radiotherapy…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staff_available  ★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Range: 0–10 per operational unit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health_conditions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30.4% null → imputed with 'Other'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 of Illness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 / Minor / Moderate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Admission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Trauma / Urgent / Emergency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 (in days)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3–51, avg 12.38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gender, Admission_Deposit…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&amp; financial features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43000"/>
          <a:ext cx="41148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1143000"/>
          <a:ext cx="41148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931920"/>
            <a:ext cx="1920240" cy="886968"/>
          </a:xfrm>
          <a:prstGeom prst="rect">
            <a:avLst/>
          </a:prstGeom>
          <a:solidFill>
            <a:srgbClr val="0A2342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365760" y="39593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68.7%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11480" y="4343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Gynecology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highest staffing pressure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487168" y="3931920"/>
            <a:ext cx="1920240" cy="886968"/>
          </a:xfrm>
          <a:prstGeom prst="rect">
            <a:avLst/>
          </a:prstGeom>
          <a:solidFill>
            <a:srgbClr val="0A2342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487168" y="39593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532888" y="4343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are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severity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608576" y="3931920"/>
            <a:ext cx="1920240" cy="886968"/>
          </a:xfrm>
          <a:prstGeom prst="rect">
            <a:avLst/>
          </a:prstGeom>
          <a:solidFill>
            <a:srgbClr val="0A2342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608576" y="39593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54296" y="4343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dominates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severity levels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729984" y="3931920"/>
            <a:ext cx="1920240" cy="886968"/>
          </a:xfrm>
          <a:prstGeom prst="rect">
            <a:avLst/>
          </a:prstGeom>
          <a:solidFill>
            <a:srgbClr val="0A2342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729984" y="39593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Asthma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775704" y="4343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severity patients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longest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PREPROCESSING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486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7099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health_conditions had 30.4% (151,888) nulls → filled with 'Other'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487168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87168"/>
            <a:ext cx="54864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87168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57860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96265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Extra Rooms showed right-skewed distribution → IQR method applied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739896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39896"/>
            <a:ext cx="5486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39896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83133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21538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np.where() used to cap values beyond Q3+1.5×IQR and below Q1–1.5×IQR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1234440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234440"/>
            <a:ext cx="548640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2344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57800" y="13258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17099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categories (&lt;5% frequency) in Department &amp; health_conditions → merged to 'Other'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2487168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2487168"/>
            <a:ext cx="548640" cy="10972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487168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57800" y="257860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296265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3 features selected after analysis: Available Rooms · Department · staff_available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3739896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3739896"/>
            <a:ext cx="5486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739896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57800" y="383133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7800" y="421538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 (drop='first') · 80/20 Train-Test split · random_state=42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Random Forest Regressor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212080" cy="1143000"/>
          </a:xfrm>
          <a:prstGeom prst="rect">
            <a:avLst/>
          </a:prstGeom>
          <a:solidFill>
            <a:srgbClr val="0A2342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09344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multiple decision trees → reduces overfitting
</a:t>
            </a:r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relationships &amp; mixed feature types
</a:t>
            </a:r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noise — ideal for healthcare operational 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0" y="1188720"/>
            <a:ext cx="3017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97880" y="1234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97880" y="162763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589520" y="162763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97880" y="181965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 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589520" y="181965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97880" y="20116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max_features: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589520" y="2011680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sqrt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97880" y="220370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random_state: 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589520" y="220370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514600"/>
            <a:ext cx="1078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(500K)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399032" y="2889504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36192" y="2514600"/>
            <a:ext cx="1078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36192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615184" y="2889504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52344" y="2514600"/>
            <a:ext cx="1078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5234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(3)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31336" y="2889504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68496" y="2514600"/>
            <a:ext cx="1078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968496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47488" y="2889504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84648" y="2514600"/>
            <a:ext cx="1078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184648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63640" y="2889504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514600"/>
            <a:ext cx="1078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0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479792" y="2889504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16952" y="2514600"/>
            <a:ext cx="1078992" cy="749808"/>
          </a:xfrm>
          <a:prstGeom prst="rect">
            <a:avLst/>
          </a:prstGeom>
          <a:solidFill>
            <a:srgbClr val="028090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616952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65760" y="2377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410712"/>
            <a:ext cx="8412480" cy="1417320"/>
          </a:xfrm>
          <a:prstGeom prst="rect">
            <a:avLst/>
          </a:prstGeom>
          <a:solidFill>
            <a:srgbClr val="EEF6FA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864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382219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Prediction  =  (1/n) × Σ(yᵢ predictions from n=125 trees)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8640" y="405993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Score  =  1 − (SS_res / SS_tot)       →  measures explained variance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8640" y="42976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MAE  =  (1/n) × Σ|yᵢ − ŷᵢ|               →  average absolute error (same units as target)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8640" y="453542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  =  √[(1/n) × Σ(yᵢ − ŷᵢ)²]          →  penalises large errors more than MAE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2697480" cy="1371600"/>
          </a:xfrm>
          <a:prstGeom prst="rect">
            <a:avLst/>
          </a:prstGeom>
          <a:solidFill>
            <a:srgbClr val="0D2F4A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61872"/>
            <a:ext cx="2514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9105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1671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441448"/>
            <a:ext cx="251460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" dirty="0">
                <a:solidFill>
                  <a:srgbClr val="0D2F4A"/>
                </a:solidFill>
              </a:rPr>
              <a:t>88.8% variance explained by the model</a:t>
            </a:r>
            <a:endParaRPr lang="en-US" sz="10" dirty="0"/>
          </a:p>
        </p:txBody>
      </p:sp>
      <p:sp>
        <p:nvSpPr>
          <p:cNvPr id="10" name="Shape 8"/>
          <p:cNvSpPr/>
          <p:nvPr/>
        </p:nvSpPr>
        <p:spPr>
          <a:xfrm>
            <a:off x="3218688" y="1207008"/>
            <a:ext cx="2697480" cy="1371600"/>
          </a:xfrm>
          <a:prstGeom prst="rect">
            <a:avLst/>
          </a:prstGeom>
          <a:solidFill>
            <a:srgbClr val="0D2F4A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1261872"/>
            <a:ext cx="2514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159105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10128" y="21671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10128" y="2441448"/>
            <a:ext cx="251460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" dirty="0">
                <a:solidFill>
                  <a:srgbClr val="0D2F4A"/>
                </a:solidFill>
              </a:rPr>
              <a:t>Avg error of only 0.636 on a 0–10 scale</a:t>
            </a:r>
            <a:endParaRPr lang="en-US" sz="10" dirty="0"/>
          </a:p>
        </p:txBody>
      </p:sp>
      <p:sp>
        <p:nvSpPr>
          <p:cNvPr id="15" name="Shape 13"/>
          <p:cNvSpPr/>
          <p:nvPr/>
        </p:nvSpPr>
        <p:spPr>
          <a:xfrm>
            <a:off x="6071616" y="1207008"/>
            <a:ext cx="2697480" cy="1371600"/>
          </a:xfrm>
          <a:prstGeom prst="rect">
            <a:avLst/>
          </a:prstGeom>
          <a:solidFill>
            <a:srgbClr val="0D2F4A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63056" y="1261872"/>
            <a:ext cx="2514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63056" y="159105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1.057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63056" y="21671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63056" y="2441448"/>
            <a:ext cx="251460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" dirty="0">
                <a:solidFill>
                  <a:srgbClr val="0D2F4A"/>
                </a:solidFill>
              </a:rPr>
              <a:t>Root mean squared error — minimal spread</a:t>
            </a:r>
            <a:endParaRPr lang="en-US" sz="1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2743200"/>
          <a:ext cx="38404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4480560" y="2743200"/>
          <a:ext cx="42976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Shape 18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7200" y="483717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Model achieves exceptional accuracy — Train R² ≈ Test R²  (0.889 vs 0.888) confirming NO significant overfitting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9748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441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Gynecology Dominates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343,478 records (68.7%) — the highest staffing pressure department. Trauma admissions are predominantly moderate severity.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218688" y="123444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234440"/>
            <a:ext cx="2697480" cy="914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3441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👩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10128" y="18288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21762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patients account for the majority across ALL severity categories (Extreme, Minor &amp; Moderate), indicating gender-specific care demands.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071616" y="123444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234440"/>
            <a:ext cx="2697480" cy="91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1616" y="13441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🌡️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63056" y="18288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&amp; Stay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63056" y="21762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severity + Asthma → longest hospital stays. Moderate severity + High Blood Pressure → second longest. Minor severity mostly 'Other' conditions.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08960"/>
            <a:ext cx="2697480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186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" y="37033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Scale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0507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ranges 0–10 per unit with mean ~5.02. Available extra rooms (IQR-cleaned: 0–7) is a strong predictor of current staffing load.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218688" y="310896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3108960"/>
            <a:ext cx="269748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18688" y="32186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10128" y="37033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Generalises Well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0128" y="40507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R²=0.889 vs Test R²=0.888 — delta &lt;0.001 confirms no overfitting. MAE of 0.636 on 0–10 scale means predictions are within &lt;1 staff unit.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071616" y="310896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3108960"/>
            <a:ext cx="2697480" cy="91440"/>
          </a:xfrm>
          <a:prstGeom prst="rect">
            <a:avLst/>
          </a:prstGeom>
          <a:solidFill>
            <a:srgbClr val="4B0082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71616" y="32186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63056" y="37033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First-of-its-Kind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63056" y="40507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known Random Forest application at this scale (500K records) on Indian hospital data, filling literature gaps in dept-specific staffing prediction.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FUTURE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Future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43584"/>
            <a:ext cx="3931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Recommendations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Deploy model in hospital ERP systems for real-time staffing alerts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Prioritize Gynecology &amp; high-severity units during peak loads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Integrate with existing patient management software for automated scheduling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Regular data validation &amp; cleaning pipelines to maintain model accuracy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Healthcare administrators should monitor extreme + asthma cases proactively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1148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34440"/>
            <a:ext cx="411480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43584"/>
            <a:ext cx="3931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for Future Research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7556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Real-time Data Feeds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9842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bed sensors + live API streams for dynamic predictions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00600" y="23408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Advanced Models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5694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LightGBM, or Deep Neural Networks for higher accuracy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00600" y="29260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Multi-hospital Scale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31546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 model across hospital chains &amp; states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0600" y="35112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EHR Integration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7398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Electronic Health Records &amp; wearables data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00600" y="40965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NLP on Doctor Notes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43251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text mining for richer feature extraction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3717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Potential Cost Reduction: 15–20% operational savings  |  Better patient outcomes  |  Scalable to national healthcare systems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325880"/>
          </a:xfrm>
          <a:prstGeom prst="rect">
            <a:avLst/>
          </a:prstGeom>
          <a:solidFill>
            <a:srgbClr val="0D2F4A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61872"/>
            <a:ext cx="8046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demonstrates an end-to-end Machine Learning pipeline for predicting hospital staff availability from operational healthcare data. Using a Random Forest Regressor trained on 500,000 patient records, the model achieves Test R² = 0.888 with minimal overfitting — proving that ML can meaningfully support proactive resource allocation in healthcare.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8412480" cy="393192"/>
          </a:xfrm>
          <a:prstGeom prst="rect">
            <a:avLst/>
          </a:prstGeom>
          <a:solidFill>
            <a:srgbClr val="0D2F4A"/>
          </a:solidFill>
          <a:ln w="6350">
            <a:solidFill>
              <a:srgbClr val="1A3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7066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Accuracy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34640" y="2715768"/>
            <a:ext cx="5806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88.8% variance explained with MAE = 0.636 on 0–10 staff scale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099816"/>
            <a:ext cx="8412480" cy="393192"/>
          </a:xfrm>
          <a:prstGeom prst="rect">
            <a:avLst/>
          </a:prstGeom>
          <a:solidFill>
            <a:srgbClr val="102840"/>
          </a:solidFill>
          <a:ln w="6350">
            <a:solidFill>
              <a:srgbClr val="1A3D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 Overfitting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34640" y="3163824"/>
            <a:ext cx="5806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 (0.889) ≈ Test R² (0.888) — model generalises well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547872"/>
            <a:ext cx="8412480" cy="393192"/>
          </a:xfrm>
          <a:prstGeom prst="rect">
            <a:avLst/>
          </a:prstGeom>
          <a:solidFill>
            <a:srgbClr val="0D2F4A"/>
          </a:solidFill>
          <a:ln w="6350">
            <a:solidFill>
              <a:srgbClr val="1A3D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027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Clean Pipeline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34640" y="3611880"/>
            <a:ext cx="5806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Missing values → Outliers → Encoding → Train/Test → Evaluate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95928"/>
            <a:ext cx="8412480" cy="393192"/>
          </a:xfrm>
          <a:prstGeom prst="rect">
            <a:avLst/>
          </a:prstGeom>
          <a:solidFill>
            <a:srgbClr val="102840"/>
          </a:solidFill>
          <a:ln w="6350">
            <a:solidFill>
              <a:srgbClr val="1A3D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0507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Domain Impact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34640" y="4059936"/>
            <a:ext cx="5806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India's 1.2M doctor shortage through data-driven staffing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443984"/>
            <a:ext cx="8412480" cy="393192"/>
          </a:xfrm>
          <a:prstGeom prst="rect">
            <a:avLst/>
          </a:prstGeom>
          <a:solidFill>
            <a:srgbClr val="0D2F4A"/>
          </a:solidFill>
          <a:ln w="6350">
            <a:solidFill>
              <a:srgbClr val="1A3D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498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Innovation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34640" y="4507992"/>
            <a:ext cx="5806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Random Forest application at 500K-record scale on Indian hospital data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646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Random Forest Regression  ·  Healthcare Analytics  ·  Staff Prediction  ·  Operational Efficiency  ·  EDA  ·  Scikit-learn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1810512"/>
            <a:ext cx="4572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3931920" cy="402336"/>
          </a:xfrm>
          <a:prstGeom prst="rect">
            <a:avLst/>
          </a:prstGeom>
          <a:solidFill>
            <a:srgbClr val="0D2F4A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6517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08760" y="2651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 hospital records · 15 features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54096"/>
            <a:ext cx="3931920" cy="402336"/>
          </a:xfrm>
          <a:prstGeom prst="rect">
            <a:avLst/>
          </a:prstGeom>
          <a:solidFill>
            <a:srgbClr val="0D2F4A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1272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08760" y="31272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 (125 trees, depth=10)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578608"/>
            <a:ext cx="3931920" cy="402336"/>
          </a:xfrm>
          <a:prstGeom prst="rect">
            <a:avLst/>
          </a:prstGeom>
          <a:solidFill>
            <a:srgbClr val="0D2F4A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73168" y="26517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15000" y="2651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R²=0.888 · MAE=0.636 · RMSE=1.057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054096"/>
            <a:ext cx="3931920" cy="402336"/>
          </a:xfrm>
          <a:prstGeom prst="rect">
            <a:avLst/>
          </a:prstGeom>
          <a:solidFill>
            <a:srgbClr val="0D2F4A"/>
          </a:solidFill>
          <a:ln w="6350">
            <a:solidFill>
              <a:srgbClr val="E0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73168" y="31272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15000" y="31272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15-20% staffing cost reduction potential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956048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Valusa Gouri Shanker  |  USN: 241DD01313  |  MCA — Vignan's University  |  Guide: Dr. B. Jyotsna Devi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Hospital Staff Availability Using Machine Learning</dc:title>
  <dc:subject>PptxGenJS Presentation</dc:subject>
  <dc:creator>Valusa Gouri Shanker</dc:creator>
  <cp:lastModifiedBy>Valusa Gouri Shanker</cp:lastModifiedBy>
  <cp:revision>1</cp:revision>
  <dcterms:created xsi:type="dcterms:W3CDTF">2026-05-16T12:22:02Z</dcterms:created>
  <dcterms:modified xsi:type="dcterms:W3CDTF">2026-05-16T12:22:02Z</dcterms:modified>
</cp:coreProperties>
</file>